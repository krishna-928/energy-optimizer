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61AA7-6FCB-26A7-DB2E-8FA5B4B3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C33CA-8DDD-4662-AC1A-2987BB45B725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FD995-0437-396A-9FBD-548C578F7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80EF0-E6A7-933E-D43B-45BA7871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43F4D-8B53-4536-9CB4-D99D636C67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2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DECDD-7461-75F9-C88D-1A6C27FB5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C56B7-0E03-4FC4-84D3-9F833116DF74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D131-BCDB-294A-F0FF-6266D820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BE4A2-BA50-6211-5572-7140F20C0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2ACD65-DA04-496B-8585-A8781C366E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40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6A6F2-3791-1BE0-5928-03E7A063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99B157-6ED6-40F0-8EDF-FB6E6D0391B7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9C92B-4731-DC46-1DC1-6A5AF8A9D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B9725-ED73-DDEA-46FC-931EF69FB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DC3CB-1D54-4840-8542-773D1426A9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21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F76983B-09A2-6C75-AA65-CDBC48CA1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62AFE9-64AB-47F0-94AB-5D58D432339C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CB34769-C984-65AB-F23D-009D72DE8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8292F5E-26D8-CDFC-7A35-CEA9EBA9A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3F119-474F-4F85-875A-D92C006A2C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AA29C5A-504D-AF8E-F4BC-24B67E4D9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9FFA4-4FF0-45AB-AA5D-9E20E72C6098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60622DF-6C31-F9B7-B11D-6CDC7BAF6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2DB10A5-E280-0BA9-A124-9AD29EB2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AC28E-8E87-4418-B660-843107BBB2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20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9CD099B-5AE0-80BD-D909-CAE0582E6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B0867-7F75-4593-86BC-B9D4F35CB443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DFEE41D-1CA3-7761-9DE2-7CC23CC7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D17BA0-C1AE-5BEC-D6D7-44DDC6B0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E49DA-5076-483A-A246-C38287783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9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897C41D-9AEC-656C-CEB1-E2229AB9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1B178A-6253-4058-A8E7-13C877E0CC16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2D6690A-2005-50D5-2A81-B69D7DC2B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CD9797-41D7-B82F-4D3C-484BECF79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4A5EA-937D-4815-A239-8C3B2DBC21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55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317F484-B549-BAF7-1A9C-0FD8C022E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994A8E-541D-4C51-996C-2389E4DBE781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E92B9F6-1AFD-B1B6-C60D-F2922E72A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76D9C7-B916-EEF1-DEB9-0273664D2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93923-B8E5-4884-B09B-A1AC0D7E30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92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1BB8647-33CD-64BB-528F-FBB4AA5D9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1907D-18EF-43E4-B00C-5C81C3B36871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4FEFF67-59E5-A756-3E15-FD18237DF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3EFD13D-38E2-FBA4-6E89-7CC75F68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570F24-9B42-4B75-B0B4-C877648864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73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B6231-EBF4-5FDB-6D07-18D437B53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47275-1550-4371-840C-281D9CC3A3C8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A15C1-5938-9714-5882-F4EBD0AB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9D359-816F-BAA9-91A9-F3FB453C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1154B-0725-47B7-877D-C8CD9FFF83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409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E566A-D29F-6425-598A-CF5491804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F182E-5355-4603-8D53-F04A166AD14F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AB228-58DA-134F-1D38-75FB5D311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6EE9B-6F74-E9F9-E52A-5FD43CFE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1CE01E-BDF9-46F0-A438-53D2C5C2C5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6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D666A38-F89B-0790-C33F-10AC0A2BF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A232F17-D779-2231-3BFB-A3E7ECF02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F0768-350A-8C02-4E96-89E14C16D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78EBAA2-E233-483B-91EC-0DDBF2EE628B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D1EAB-B4C6-53E4-B5B2-AF308CF8B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10780-6294-EFB0-73CB-881985822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7C09D52-D67A-40BE-A6EC-47B52C4259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D9D74B-98A2-3722-4642-8296004286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E3786B9-72B8-5AF3-9E93-219A4075DDE9}"/>
              </a:ext>
            </a:extLst>
          </p:cNvPr>
          <p:cNvSpPr/>
          <p:nvPr/>
        </p:nvSpPr>
        <p:spPr>
          <a:xfrm>
            <a:off x="731838" y="731838"/>
            <a:ext cx="10728325" cy="5394325"/>
          </a:xfrm>
          <a:prstGeom prst="roundRect">
            <a:avLst/>
          </a:prstGeom>
          <a:solidFill>
            <a:srgbClr val="0B1424"/>
          </a:solidFill>
          <a:ln w="19050">
            <a:solidFill>
              <a:srgbClr val="18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7A61A0-1E61-3CD7-A661-487FA6E93144}"/>
              </a:ext>
            </a:extLst>
          </p:cNvPr>
          <p:cNvSpPr/>
          <p:nvPr/>
        </p:nvSpPr>
        <p:spPr>
          <a:xfrm>
            <a:off x="731838" y="731838"/>
            <a:ext cx="10728325" cy="73025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285C928-BA13-FD0F-851A-84B1E6422AEE}"/>
              </a:ext>
            </a:extLst>
          </p:cNvPr>
          <p:cNvSpPr/>
          <p:nvPr/>
        </p:nvSpPr>
        <p:spPr>
          <a:xfrm>
            <a:off x="1189038" y="1235075"/>
            <a:ext cx="4754562" cy="328613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2FE"/>
                </a:solidFill>
                <a:latin typeface="Calibri"/>
              </a:defRPr>
            </a:pPr>
            <a:r>
              <a:rPr sz="1100" b="1">
                <a:solidFill>
                  <a:srgbClr val="00F2FE"/>
                </a:solidFill>
              </a:rPr>
              <a:t>⚡ IBM SUSTAINABILITY CHALLENGE • ENERGY TRACK</a:t>
            </a:r>
          </a:p>
        </p:txBody>
      </p:sp>
      <p:sp>
        <p:nvSpPr>
          <p:cNvPr id="2054" name="TextBox 5">
            <a:extLst>
              <a:ext uri="{FF2B5EF4-FFF2-40B4-BE49-F238E27FC236}">
                <a16:creationId xmlns:a16="http://schemas.microsoft.com/office/drawing/2014/main" id="{FE896530-1271-A601-7C2E-71535CCCC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736725"/>
            <a:ext cx="9875838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800"/>
              </a:spcAft>
            </a:pPr>
            <a:r>
              <a:rPr lang="en-US" altLang="en-US" sz="4600" b="1" dirty="0" err="1">
                <a:solidFill>
                  <a:srgbClr val="FFFFFF"/>
                </a:solidFill>
              </a:rPr>
              <a:t>GridWise</a:t>
            </a:r>
            <a:r>
              <a:rPr lang="en-US" altLang="en-US" sz="4600" b="1" dirty="0">
                <a:solidFill>
                  <a:srgbClr val="FFFFFF"/>
                </a:solidFill>
              </a:rPr>
              <a:t> AI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en-US" sz="2200" b="1" dirty="0">
                <a:solidFill>
                  <a:srgbClr val="00F2FE"/>
                </a:solidFill>
              </a:rPr>
              <a:t>Grid Load </a:t>
            </a:r>
            <a:r>
              <a:rPr lang="en-US" altLang="en-US" sz="2200" b="1" dirty="0" err="1">
                <a:solidFill>
                  <a:srgbClr val="00F2FE"/>
                </a:solidFill>
              </a:rPr>
              <a:t>Optimisation</a:t>
            </a:r>
            <a:r>
              <a:rPr lang="en-US" altLang="en-US" sz="2200" b="1" dirty="0">
                <a:solidFill>
                  <a:srgbClr val="00F2FE"/>
                </a:solidFill>
              </a:rPr>
              <a:t> &amp; Renewable Energy Performance Advisor</a:t>
            </a:r>
          </a:p>
          <a:p>
            <a:pPr eaLnBrk="1" hangingPunct="1"/>
            <a:r>
              <a:rPr lang="en-US" altLang="en-US" sz="1500" dirty="0">
                <a:solidFill>
                  <a:srgbClr val="94A3B8"/>
                </a:solidFill>
              </a:rPr>
              <a:t>Real-time AI-powered intelligence for grid operators facing volatile renewable curtailment,</a:t>
            </a:r>
            <a:br>
              <a:rPr lang="en-US" altLang="en-US" sz="1500" dirty="0">
                <a:solidFill>
                  <a:srgbClr val="94A3B8"/>
                </a:solidFill>
              </a:rPr>
            </a:br>
            <a:r>
              <a:rPr lang="en-US" altLang="en-US" sz="1500" dirty="0">
                <a:solidFill>
                  <a:srgbClr val="94A3B8"/>
                </a:solidFill>
              </a:rPr>
              <a:t>unexpected demand spikes, and asset-level performance deficits.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47E9051-0D32-B8D5-D5DA-93F8C7670EB5}"/>
              </a:ext>
            </a:extLst>
          </p:cNvPr>
          <p:cNvSpPr/>
          <p:nvPr/>
        </p:nvSpPr>
        <p:spPr>
          <a:xfrm>
            <a:off x="1189038" y="4435475"/>
            <a:ext cx="3017837" cy="1279525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64592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00F2FE"/>
                </a:solidFill>
                <a:latin typeface="Calibri"/>
              </a:defRPr>
            </a:pPr>
            <a:r>
              <a:rPr sz="1050" b="1">
                <a:solidFill>
                  <a:srgbClr val="00F2FE"/>
                </a:solidFill>
              </a:rPr>
              <a:t>TEAM NAME</a:t>
            </a:r>
          </a:p>
          <a:p>
            <a:pPr eaLnBrk="1" fontAlgn="auto" hangingPunct="1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Team Vision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94A3B8"/>
                </a:solidFill>
                <a:latin typeface="Calibri"/>
              </a:defRPr>
            </a:pPr>
            <a:r>
              <a:rPr sz="1150">
                <a:solidFill>
                  <a:srgbClr val="94A3B8"/>
                </a:solidFill>
              </a:rPr>
              <a:t>Multidisciplinary Engineering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D489F1-EA2F-0F73-AB79-E3833C9B03CD}"/>
              </a:ext>
            </a:extLst>
          </p:cNvPr>
          <p:cNvSpPr/>
          <p:nvPr/>
        </p:nvSpPr>
        <p:spPr>
          <a:xfrm>
            <a:off x="4479925" y="4435475"/>
            <a:ext cx="3017838" cy="1279525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64592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10B981"/>
                </a:solidFill>
                <a:latin typeface="Calibri"/>
              </a:defRPr>
            </a:pPr>
            <a:r>
              <a:rPr sz="1050" b="1">
                <a:solidFill>
                  <a:srgbClr val="10B981"/>
                </a:solidFill>
              </a:rPr>
              <a:t>COMPETITION TRACK</a:t>
            </a:r>
          </a:p>
          <a:p>
            <a:pPr eaLnBrk="1" fontAlgn="auto" hangingPunct="1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Energy &amp; Climate Resilience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94A3B8"/>
                </a:solidFill>
                <a:latin typeface="Calibri"/>
              </a:defRPr>
            </a:pPr>
            <a:r>
              <a:rPr sz="1150">
                <a:solidFill>
                  <a:srgbClr val="94A3B8"/>
                </a:solidFill>
              </a:rPr>
              <a:t>Clean Grid Transition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303E26-1716-C3A0-C263-F4F416CF1878}"/>
              </a:ext>
            </a:extLst>
          </p:cNvPr>
          <p:cNvSpPr/>
          <p:nvPr/>
        </p:nvSpPr>
        <p:spPr>
          <a:xfrm>
            <a:off x="7772400" y="4435475"/>
            <a:ext cx="3017838" cy="1279525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64592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0F62FE"/>
                </a:solidFill>
                <a:latin typeface="Calibri"/>
              </a:defRPr>
            </a:pPr>
            <a:r>
              <a:rPr sz="1050" b="1" dirty="0">
                <a:solidFill>
                  <a:srgbClr val="0F62FE"/>
                </a:solidFill>
              </a:rPr>
              <a:t>CORE IBM TECH</a:t>
            </a:r>
          </a:p>
          <a:p>
            <a:pPr eaLnBrk="1" fontAlgn="auto" hangingPunct="1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b="1" dirty="0">
                <a:solidFill>
                  <a:srgbClr val="FFFFFF"/>
                </a:solidFill>
              </a:rPr>
              <a:t>watsonx.ai &amp; Watson ML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94A3B8"/>
                </a:solidFill>
                <a:latin typeface="Calibri"/>
              </a:defRPr>
            </a:pPr>
            <a:r>
              <a:rPr sz="1150" dirty="0">
                <a:solidFill>
                  <a:srgbClr val="94A3B8"/>
                </a:solidFill>
              </a:rPr>
              <a:t>Environmental Intelligence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000F26-64FF-4ED2-58BB-F780E06DD3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E75D175-448E-631C-99F5-D550CF1F2DBC}"/>
              </a:ext>
            </a:extLst>
          </p:cNvPr>
          <p:cNvSpPr/>
          <p:nvPr/>
        </p:nvSpPr>
        <p:spPr>
          <a:xfrm>
            <a:off x="731838" y="384175"/>
            <a:ext cx="3840162" cy="29210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43F5E"/>
                </a:solidFill>
                <a:latin typeface="Calibri"/>
              </a:defRPr>
            </a:pPr>
            <a:r>
              <a:rPr sz="1050" b="1">
                <a:solidFill>
                  <a:srgbClr val="F43F5E"/>
                </a:solidFill>
              </a:rPr>
              <a:t>■ THE CRISIS: GRID CURTAILMENT &amp; VOLATILITY</a:t>
            </a:r>
          </a:p>
        </p:txBody>
      </p:sp>
      <p:sp>
        <p:nvSpPr>
          <p:cNvPr id="3076" name="TextBox 3">
            <a:extLst>
              <a:ext uri="{FF2B5EF4-FFF2-40B4-BE49-F238E27FC236}">
                <a16:creationId xmlns:a16="http://schemas.microsoft.com/office/drawing/2014/main" id="{7BED89BC-05B9-0C14-97E9-FA2BC7CAA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712788"/>
            <a:ext cx="10790238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300"/>
              </a:spcAft>
            </a:pPr>
            <a:r>
              <a:rPr lang="en-US" altLang="en-US" sz="2800" b="1">
                <a:solidFill>
                  <a:srgbClr val="FFFFFF"/>
                </a:solidFill>
              </a:rPr>
              <a:t>The Operator's Impossible Balancing Act</a:t>
            </a:r>
          </a:p>
          <a:p>
            <a:pPr eaLnBrk="1" hangingPunct="1"/>
            <a:r>
              <a:rPr lang="en-US" altLang="en-US" sz="1400">
                <a:solidFill>
                  <a:srgbClr val="94A3B8"/>
                </a:solidFill>
              </a:rPr>
              <a:t>Record clean energy is being dumped while unexpected demand spikes threaten grid stability.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4B50ED4-5C7A-F32D-0579-2B1ACB483856}"/>
              </a:ext>
            </a:extLst>
          </p:cNvPr>
          <p:cNvSpPr/>
          <p:nvPr/>
        </p:nvSpPr>
        <p:spPr>
          <a:xfrm>
            <a:off x="731838" y="1874838"/>
            <a:ext cx="3382962" cy="1690687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</a:rPr>
              <a:t>8 TWh</a:t>
            </a:r>
          </a:p>
          <a:p>
            <a:pPr eaLnBrk="1" fontAlgn="auto" hangingPunct="1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F43F5E"/>
                </a:solidFill>
                <a:latin typeface="Calibri"/>
              </a:defRPr>
            </a:pPr>
            <a:r>
              <a:rPr sz="1400" b="1">
                <a:solidFill>
                  <a:srgbClr val="F43F5E"/>
                </a:solidFill>
              </a:rPr>
              <a:t>Curtailed in 2023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94A3B8"/>
                </a:solidFill>
                <a:latin typeface="Calibri"/>
              </a:defRPr>
            </a:pPr>
            <a:r>
              <a:rPr sz="1150">
                <a:solidFill>
                  <a:srgbClr val="94A3B8"/>
                </a:solidFill>
              </a:rPr>
              <a:t>Clean electricity switched off — the grid couldn't absorb it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9BB2733-1EC0-E9FA-44DF-B67EB8176D5C}"/>
              </a:ext>
            </a:extLst>
          </p:cNvPr>
          <p:cNvSpPr/>
          <p:nvPr/>
        </p:nvSpPr>
        <p:spPr>
          <a:xfrm>
            <a:off x="4389438" y="1874838"/>
            <a:ext cx="3382962" cy="1690687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</a:rPr>
              <a:t>$1.2B</a:t>
            </a:r>
          </a:p>
          <a:p>
            <a:pPr eaLnBrk="1" fontAlgn="auto" hangingPunct="1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rPr sz="1400" b="1">
                <a:solidFill>
                  <a:srgbClr val="F59E0B"/>
                </a:solidFill>
              </a:rPr>
              <a:t>Lost Renewable Value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94A3B8"/>
                </a:solidFill>
                <a:latin typeface="Calibri"/>
              </a:defRPr>
            </a:pPr>
            <a:r>
              <a:rPr sz="1150">
                <a:solidFill>
                  <a:srgbClr val="94A3B8"/>
                </a:solidFill>
              </a:rPr>
              <a:t>Recoverable revenue left on the table every single year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7E0F345-B0B0-B8AC-0448-1DDB8A0360CB}"/>
              </a:ext>
            </a:extLst>
          </p:cNvPr>
          <p:cNvSpPr/>
          <p:nvPr/>
        </p:nvSpPr>
        <p:spPr>
          <a:xfrm>
            <a:off x="8047038" y="1874838"/>
            <a:ext cx="3382962" cy="1690687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</a:rPr>
              <a:t>750,000</a:t>
            </a:r>
          </a:p>
          <a:p>
            <a:pPr eaLnBrk="1" fontAlgn="auto" hangingPunct="1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rPr sz="1400" b="1">
                <a:solidFill>
                  <a:srgbClr val="10B981"/>
                </a:solidFill>
              </a:rPr>
              <a:t>Homes Left Unpowered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94A3B8"/>
                </a:solidFill>
                <a:latin typeface="Calibri"/>
              </a:defRPr>
            </a:pPr>
            <a:r>
              <a:rPr sz="1150">
                <a:solidFill>
                  <a:srgbClr val="94A3B8"/>
                </a:solidFill>
              </a:rPr>
              <a:t>Equivalent clean power wasted that could sustain 750k households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B592630-831A-7EBE-4FD8-557DB4124574}"/>
              </a:ext>
            </a:extLst>
          </p:cNvPr>
          <p:cNvSpPr/>
          <p:nvPr/>
        </p:nvSpPr>
        <p:spPr>
          <a:xfrm>
            <a:off x="731838" y="3794125"/>
            <a:ext cx="3382962" cy="2514600"/>
          </a:xfrm>
          <a:prstGeom prst="roundRect">
            <a:avLst/>
          </a:prstGeom>
          <a:solidFill>
            <a:srgbClr val="0E192D"/>
          </a:solidFill>
          <a:ln w="12700">
            <a:solidFill>
              <a:srgbClr val="1E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rPr sz="1100" b="1">
                <a:solidFill>
                  <a:srgbClr val="38BDF8"/>
                </a:solidFill>
              </a:rPr>
              <a:t>WHO HAS THE PROBLEM?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Transmission &amp; Regional Grid Operators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rPr sz="1200">
                <a:solidFill>
                  <a:srgbClr val="CBD5E1"/>
                </a:solidFill>
              </a:rPr>
              <a:t>• Independent System Operators (ISOs) &amp; regional utilities.</a:t>
            </a:r>
            <a:br>
              <a:rPr sz="1200">
                <a:solidFill>
                  <a:srgbClr val="CBD5E1"/>
                </a:solidFill>
              </a:rPr>
            </a:br>
            <a:r>
              <a:rPr sz="1200">
                <a:solidFill>
                  <a:srgbClr val="CBD5E1"/>
                </a:solidFill>
              </a:rPr>
              <a:t>• Overwhelmed dispatchers managing 40% hour-to-hour solar/wind swings.</a:t>
            </a:r>
            <a:br>
              <a:rPr sz="1200">
                <a:solidFill>
                  <a:srgbClr val="CBD5E1"/>
                </a:solidFill>
              </a:rPr>
            </a:br>
            <a:r>
              <a:rPr sz="1200">
                <a:solidFill>
                  <a:srgbClr val="CBD5E1"/>
                </a:solidFill>
              </a:rPr>
              <a:t>• Zero room for error during rapid evening ramp periods.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353CFF6-E103-0906-FC25-D4A5C35E15FD}"/>
              </a:ext>
            </a:extLst>
          </p:cNvPr>
          <p:cNvSpPr/>
          <p:nvPr/>
        </p:nvSpPr>
        <p:spPr>
          <a:xfrm>
            <a:off x="4389438" y="3794125"/>
            <a:ext cx="3382962" cy="2514600"/>
          </a:xfrm>
          <a:prstGeom prst="roundRect">
            <a:avLst/>
          </a:prstGeom>
          <a:solidFill>
            <a:srgbClr val="0E192D"/>
          </a:solidFill>
          <a:ln w="12700">
            <a:solidFill>
              <a:srgbClr val="1E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rPr sz="1100" b="1">
                <a:solidFill>
                  <a:srgbClr val="F59E0B"/>
                </a:solidFill>
              </a:rPr>
              <a:t>WHAT IS THE PROBLEM?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Dual Volatility &amp; Generation Blindspots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rPr sz="1200">
                <a:solidFill>
                  <a:srgbClr val="CBD5E1"/>
                </a:solidFill>
              </a:rPr>
              <a:t>• Unpredictable demand spikes from rapid EV adoption and data centers.</a:t>
            </a:r>
            <a:br>
              <a:rPr sz="1200">
                <a:solidFill>
                  <a:srgbClr val="CBD5E1"/>
                </a:solidFill>
              </a:rPr>
            </a:br>
            <a:r>
              <a:rPr sz="1200">
                <a:solidFill>
                  <a:srgbClr val="CBD5E1"/>
                </a:solidFill>
              </a:rPr>
              <a:t>• Hidden solar/wind underperformance cascading into deficits.</a:t>
            </a:r>
            <a:br>
              <a:rPr sz="1200">
                <a:solidFill>
                  <a:srgbClr val="CBD5E1"/>
                </a:solidFill>
              </a:rPr>
            </a:br>
            <a:r>
              <a:rPr sz="1200">
                <a:solidFill>
                  <a:srgbClr val="CBD5E1"/>
                </a:solidFill>
              </a:rPr>
              <a:t>• Clean energy curtailed due to localized transmission bottlenecks.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A3AE983-1D8D-C76C-4912-E5BEAE5D1CB2}"/>
              </a:ext>
            </a:extLst>
          </p:cNvPr>
          <p:cNvSpPr/>
          <p:nvPr/>
        </p:nvSpPr>
        <p:spPr>
          <a:xfrm>
            <a:off x="8047038" y="3794125"/>
            <a:ext cx="3382962" cy="2514600"/>
          </a:xfrm>
          <a:prstGeom prst="roundRect">
            <a:avLst/>
          </a:prstGeom>
          <a:solidFill>
            <a:srgbClr val="0E192D"/>
          </a:solidFill>
          <a:ln w="12700">
            <a:solidFill>
              <a:srgbClr val="1E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43F5E"/>
                </a:solidFill>
                <a:latin typeface="Calibri"/>
              </a:defRPr>
            </a:pPr>
            <a:r>
              <a:rPr sz="1100" b="1">
                <a:solidFill>
                  <a:srgbClr val="F43F5E"/>
                </a:solidFill>
              </a:rPr>
              <a:t>WHY DOES IT MATTER?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Costly Crises &amp; Dirty Peaker Plants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rPr sz="1200">
                <a:solidFill>
                  <a:srgbClr val="CBD5E1"/>
                </a:solidFill>
              </a:rPr>
              <a:t>• Relying on spreadsheets and delayed alarms creates panic reactions.</a:t>
            </a:r>
            <a:br>
              <a:rPr sz="1200">
                <a:solidFill>
                  <a:srgbClr val="CBD5E1"/>
                </a:solidFill>
              </a:rPr>
            </a:br>
            <a:r>
              <a:rPr sz="1200">
                <a:solidFill>
                  <a:srgbClr val="CBD5E1"/>
                </a:solidFill>
              </a:rPr>
              <a:t>• Operators fire polluting fossil-fuel peakers to maintain spinning reserve.</a:t>
            </a:r>
            <a:br>
              <a:rPr sz="1200">
                <a:solidFill>
                  <a:srgbClr val="CBD5E1"/>
                </a:solidFill>
              </a:rPr>
            </a:br>
            <a:r>
              <a:rPr sz="1200">
                <a:solidFill>
                  <a:srgbClr val="CBD5E1"/>
                </a:solidFill>
              </a:rPr>
              <a:t>• Billions in lost green revenue and heightened risk of rolling blackouts.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40D0FC-FF6B-FE84-B6D7-3E6A675F4B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C928547-F139-BEB8-136D-43C11F14FC14}"/>
              </a:ext>
            </a:extLst>
          </p:cNvPr>
          <p:cNvSpPr/>
          <p:nvPr/>
        </p:nvSpPr>
        <p:spPr>
          <a:xfrm>
            <a:off x="731838" y="384175"/>
            <a:ext cx="3840162" cy="29210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F2FE"/>
                </a:solidFill>
                <a:latin typeface="Calibri"/>
              </a:defRPr>
            </a:pPr>
            <a:r>
              <a:rPr sz="1050" b="1">
                <a:solidFill>
                  <a:srgbClr val="00F2FE"/>
                </a:solidFill>
              </a:rPr>
              <a:t>■ THE SOLUTION PLATFORM</a:t>
            </a:r>
          </a:p>
        </p:txBody>
      </p:sp>
      <p:sp>
        <p:nvSpPr>
          <p:cNvPr id="4100" name="TextBox 3">
            <a:extLst>
              <a:ext uri="{FF2B5EF4-FFF2-40B4-BE49-F238E27FC236}">
                <a16:creationId xmlns:a16="http://schemas.microsoft.com/office/drawing/2014/main" id="{5F234792-64FC-EF73-FB23-2A0446EE7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712788"/>
            <a:ext cx="10790238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300"/>
              </a:spcAft>
            </a:pPr>
            <a:r>
              <a:rPr lang="en-US" altLang="en-US" sz="2800" b="1">
                <a:solidFill>
                  <a:srgbClr val="FFFFFF"/>
                </a:solidFill>
              </a:rPr>
              <a:t>GridWise AI: Autonomous Grid Intelligence</a:t>
            </a:r>
          </a:p>
          <a:p>
            <a:pPr eaLnBrk="1" hangingPunct="1"/>
            <a:r>
              <a:rPr lang="en-US" altLang="en-US" sz="1400">
                <a:solidFill>
                  <a:srgbClr val="94A3B8"/>
                </a:solidFill>
              </a:rPr>
              <a:t>An integrated closed-loop decision support engine turning raw telemetry into proactive dispatch actions.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CBD4D5-F8CD-F2C7-0B96-FAC073B9F03E}"/>
              </a:ext>
            </a:extLst>
          </p:cNvPr>
          <p:cNvSpPr/>
          <p:nvPr/>
        </p:nvSpPr>
        <p:spPr>
          <a:xfrm>
            <a:off x="731838" y="1920875"/>
            <a:ext cx="2514600" cy="365760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F2FE"/>
                </a:solidFill>
                <a:latin typeface="Calibri"/>
              </a:defRPr>
            </a:pPr>
            <a:r>
              <a:rPr sz="2800" b="1">
                <a:solidFill>
                  <a:srgbClr val="00F2FE"/>
                </a:solidFill>
              </a:rPr>
              <a:t>01</a:t>
            </a:r>
          </a:p>
          <a:p>
            <a:pPr eaLnBrk="1" fontAlgn="auto" hangingPunct="1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rPr sz="1000" b="1">
                <a:solidFill>
                  <a:srgbClr val="94A3B8"/>
                </a:solidFill>
              </a:rPr>
              <a:t>PREDICTIVE FORECASTING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Forecast Load Spikes 2–4h Ahead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>
                <a:solidFill>
                  <a:srgbClr val="CBD5E1"/>
                </a:solidFill>
              </a:rPr>
              <a:t>• Rolling-horizon machine learning on live grid demand.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Identifies extreme evening peaks (e.g. 750 MW surge).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Provides operators critical advance buffer to mobilize reserves.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97B61D-2BC5-517C-1176-0A3FF74111B4}"/>
              </a:ext>
            </a:extLst>
          </p:cNvPr>
          <p:cNvSpPr/>
          <p:nvPr/>
        </p:nvSpPr>
        <p:spPr>
          <a:xfrm>
            <a:off x="3475038" y="1920875"/>
            <a:ext cx="2514600" cy="365760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38BDF8"/>
                </a:solidFill>
                <a:latin typeface="Calibri"/>
              </a:defRPr>
            </a:pPr>
            <a:r>
              <a:rPr sz="2800" b="1">
                <a:solidFill>
                  <a:srgbClr val="38BDF8"/>
                </a:solidFill>
              </a:rPr>
              <a:t>02</a:t>
            </a:r>
          </a:p>
          <a:p>
            <a:pPr eaLnBrk="1" fontAlgn="auto" hangingPunct="1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rPr sz="1000" b="1">
                <a:solidFill>
                  <a:srgbClr val="94A3B8"/>
                </a:solidFill>
              </a:rPr>
              <a:t>ANOMALY DETECTION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Detect Renewable Deficits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>
                <a:solidFill>
                  <a:srgbClr val="CBD5E1"/>
                </a:solidFill>
              </a:rPr>
              <a:t>• Reconciles expected physical generation against live SCADA telemetry.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Flags shortfalls (&gt;50 MW deficit on solar/wind).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Prevents sudden generation loss from catching the grid off guard.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8109EB-B946-438F-A4B8-35B06D79BCB2}"/>
              </a:ext>
            </a:extLst>
          </p:cNvPr>
          <p:cNvSpPr/>
          <p:nvPr/>
        </p:nvSpPr>
        <p:spPr>
          <a:xfrm>
            <a:off x="6218238" y="1920875"/>
            <a:ext cx="2514600" cy="365760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F59E0B"/>
                </a:solidFill>
                <a:latin typeface="Calibri"/>
              </a:defRPr>
            </a:pPr>
            <a:r>
              <a:rPr sz="2800" b="1">
                <a:solidFill>
                  <a:srgbClr val="F59E0B"/>
                </a:solidFill>
              </a:rPr>
              <a:t>03</a:t>
            </a:r>
          </a:p>
          <a:p>
            <a:pPr eaLnBrk="1" fontAlgn="auto" hangingPunct="1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rPr sz="1000" b="1">
                <a:solidFill>
                  <a:srgbClr val="94A3B8"/>
                </a:solidFill>
              </a:rPr>
              <a:t>ROOT CAUSE ENGINE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Isolate Asset Failures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>
                <a:solidFill>
                  <a:srgbClr val="CBD5E1"/>
                </a:solidFill>
              </a:rPr>
              <a:t>• Evaluates multi-factor diagnostic trees per underperforming asset.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Differentiates weather transient (cloud cover) from mechanical inverter trip.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Pinpoints exact substation feeder &amp; asset cluster.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DD6ED3-86E6-B235-640F-2385D9797900}"/>
              </a:ext>
            </a:extLst>
          </p:cNvPr>
          <p:cNvSpPr/>
          <p:nvPr/>
        </p:nvSpPr>
        <p:spPr>
          <a:xfrm>
            <a:off x="8961438" y="1920875"/>
            <a:ext cx="2514600" cy="365760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10B981"/>
                </a:solidFill>
                <a:latin typeface="Calibri"/>
              </a:defRPr>
            </a:pPr>
            <a:r>
              <a:rPr sz="2800" b="1">
                <a:solidFill>
                  <a:srgbClr val="10B981"/>
                </a:solidFill>
              </a:rPr>
              <a:t>04</a:t>
            </a:r>
          </a:p>
          <a:p>
            <a:pPr eaLnBrk="1" fontAlgn="auto" hangingPunct="1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rPr sz="1000" b="1">
                <a:solidFill>
                  <a:srgbClr val="94A3B8"/>
                </a:solidFill>
              </a:rPr>
              <a:t>OPERATOR BRIEF &amp; PLAN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Curtailment Minimization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>
                <a:solidFill>
                  <a:srgbClr val="CBD5E1"/>
                </a:solidFill>
              </a:rPr>
              <a:t>• 1-Click Generative AI Operator Brief with watsonx Granite.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4-Step actionable plan: dispatch priority, BESS pre-charge, &amp; demand response.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Maximizes clean MW absorption while keeping risk index &lt;40.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2E0121-CC02-43C7-CEB9-8823B4C5CDD7}"/>
              </a:ext>
            </a:extLst>
          </p:cNvPr>
          <p:cNvSpPr/>
          <p:nvPr/>
        </p:nvSpPr>
        <p:spPr>
          <a:xfrm>
            <a:off x="731838" y="5761038"/>
            <a:ext cx="10728325" cy="685800"/>
          </a:xfrm>
          <a:prstGeom prst="roundRect">
            <a:avLst/>
          </a:prstGeom>
          <a:solidFill>
            <a:srgbClr val="142440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2FE"/>
                </a:solidFill>
                <a:latin typeface="Calibri"/>
              </a:defRPr>
            </a:pPr>
            <a:r>
              <a:rPr sz="1300" b="1">
                <a:solidFill>
                  <a:srgbClr val="00F2FE"/>
                </a:solidFill>
              </a:rPr>
              <a:t>🎯 CORE BREAKTHROUGH: Replaces 45 minutes of manual spreadsheet cross-referencing with an instant, verified dispatch brief in under 3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C46135-691F-E6C3-7A82-E8604BDBED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DE1B5C5-5AF8-3F34-5EA9-75F8244D0D21}"/>
              </a:ext>
            </a:extLst>
          </p:cNvPr>
          <p:cNvSpPr/>
          <p:nvPr/>
        </p:nvSpPr>
        <p:spPr>
          <a:xfrm>
            <a:off x="731838" y="384175"/>
            <a:ext cx="3840162" cy="29210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F2FE"/>
                </a:solidFill>
                <a:latin typeface="Calibri"/>
              </a:defRPr>
            </a:pPr>
            <a:r>
              <a:rPr sz="1050" b="1">
                <a:solidFill>
                  <a:srgbClr val="00F2FE"/>
                </a:solidFill>
              </a:rPr>
              <a:t>■ SYSTEM ARCHITECTURE</a:t>
            </a:r>
          </a:p>
        </p:txBody>
      </p:sp>
      <p:sp>
        <p:nvSpPr>
          <p:cNvPr id="5124" name="TextBox 3">
            <a:extLst>
              <a:ext uri="{FF2B5EF4-FFF2-40B4-BE49-F238E27FC236}">
                <a16:creationId xmlns:a16="http://schemas.microsoft.com/office/drawing/2014/main" id="{6BC684FA-7B12-24DF-FD72-0B8448BB6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712788"/>
            <a:ext cx="10790238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300"/>
              </a:spcAft>
            </a:pPr>
            <a:r>
              <a:rPr lang="en-US" altLang="en-US" sz="2800" b="1">
                <a:solidFill>
                  <a:srgbClr val="FFFFFF"/>
                </a:solidFill>
              </a:rPr>
              <a:t>High-Throughput Enterprise Grid Intelligence Architecture</a:t>
            </a:r>
          </a:p>
          <a:p>
            <a:pPr eaLnBrk="1" hangingPunct="1"/>
            <a:r>
              <a:rPr lang="en-US" altLang="en-US" sz="1400">
                <a:solidFill>
                  <a:srgbClr val="94A3B8"/>
                </a:solidFill>
              </a:rPr>
              <a:t>Seamless pipeline from edge substation telemetry to generative dispatch reasoning.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7DD364-2FD6-6ADC-FD47-8648BC0993EE}"/>
              </a:ext>
            </a:extLst>
          </p:cNvPr>
          <p:cNvSpPr/>
          <p:nvPr/>
        </p:nvSpPr>
        <p:spPr>
          <a:xfrm>
            <a:off x="731838" y="1920875"/>
            <a:ext cx="2514600" cy="393065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0F2FE"/>
                </a:solidFill>
                <a:latin typeface="Calibri"/>
              </a:defRPr>
            </a:pPr>
            <a:r>
              <a:rPr sz="1100" b="1">
                <a:solidFill>
                  <a:srgbClr val="00F2FE"/>
                </a:solidFill>
              </a:rPr>
              <a:t>LAYER 1</a:t>
            </a:r>
          </a:p>
          <a:p>
            <a:pPr eaLnBrk="1" fontAlgn="auto" hangingPunct="1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rPr sz="1000" b="1">
                <a:solidFill>
                  <a:srgbClr val="94A3B8"/>
                </a:solidFill>
              </a:rPr>
              <a:t>DATA INGESTION &amp; SENSING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SCADA &amp; Weather Telemetry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>
                <a:solidFill>
                  <a:srgbClr val="CBD5E1"/>
                </a:solidFill>
              </a:rPr>
              <a:t>• Substation RTU/PMU telemetry (Active MW, Frequency, Voltage)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Solar PV inverter sensors &amp; Wind turbine anemometers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IBM Environmental Intelligence Suite (Hyper-local irradiance &amp; wind vectors)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8-interval streaming telemetry pipeline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65F56CF-1137-41AC-E468-F8BDC52D8404}"/>
              </a:ext>
            </a:extLst>
          </p:cNvPr>
          <p:cNvSpPr/>
          <p:nvPr/>
        </p:nvSpPr>
        <p:spPr>
          <a:xfrm>
            <a:off x="3475038" y="1920875"/>
            <a:ext cx="2514600" cy="393065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F62FE"/>
                </a:solidFill>
                <a:latin typeface="Calibri"/>
              </a:defRPr>
            </a:pPr>
            <a:r>
              <a:rPr sz="1100" b="1">
                <a:solidFill>
                  <a:srgbClr val="0F62FE"/>
                </a:solidFill>
              </a:rPr>
              <a:t>LAYER 2</a:t>
            </a:r>
          </a:p>
          <a:p>
            <a:pPr eaLnBrk="1" fontAlgn="auto" hangingPunct="1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rPr sz="1000" b="1">
                <a:solidFill>
                  <a:srgbClr val="94A3B8"/>
                </a:solidFill>
              </a:rPr>
              <a:t>REAL-TIME LAKEHOUSE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IBM watsonx.data 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>
                <a:solidFill>
                  <a:srgbClr val="CBD5E1"/>
                </a:solidFill>
              </a:rPr>
              <a:t>• Open lakehouse architecture powered by Apache Iceberg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High-throughput Presto query engine across hybrid grid clouds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Real-time feature store caching rolling 24h baseline models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Zero data silos between meteorological &amp; grid operational data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B304087-9029-B2EE-828C-C7AD5BA43F08}"/>
              </a:ext>
            </a:extLst>
          </p:cNvPr>
          <p:cNvSpPr/>
          <p:nvPr/>
        </p:nvSpPr>
        <p:spPr>
          <a:xfrm>
            <a:off x="6218238" y="1920875"/>
            <a:ext cx="2514600" cy="393065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rPr sz="1100" b="1">
                <a:solidFill>
                  <a:srgbClr val="F59E0B"/>
                </a:solidFill>
              </a:rPr>
              <a:t>LAYER 3</a:t>
            </a:r>
          </a:p>
          <a:p>
            <a:pPr eaLnBrk="1" fontAlgn="auto" hangingPunct="1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rPr sz="1000" b="1">
                <a:solidFill>
                  <a:srgbClr val="94A3B8"/>
                </a:solidFill>
              </a:rPr>
              <a:t>PREDICTIVE &amp; ANALYTICS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Watson ML &amp; Risk Engine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>
                <a:solidFill>
                  <a:srgbClr val="CBD5E1"/>
                </a:solidFill>
              </a:rPr>
              <a:t>• Rolling Demand Forecaster predicting load ramps 2–4 hours ahead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Asset Deviation Engine isolating shortfalls &gt;50 MW threshold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Multi-factor Grid Risk Matrix (0–100 score: Demand + Gap + Wind)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Automated root cause diagnostic decision tree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7AA9B06-24E3-E0DE-2D5E-96358A8AE618}"/>
              </a:ext>
            </a:extLst>
          </p:cNvPr>
          <p:cNvSpPr/>
          <p:nvPr/>
        </p:nvSpPr>
        <p:spPr>
          <a:xfrm>
            <a:off x="8961438" y="1920875"/>
            <a:ext cx="2514600" cy="393065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 sz="1100" b="1">
                <a:solidFill>
                  <a:srgbClr val="10B981"/>
                </a:solidFill>
              </a:rPr>
              <a:t>LAYER 4</a:t>
            </a:r>
          </a:p>
          <a:p>
            <a:pPr eaLnBrk="1" fontAlgn="auto" hangingPunct="1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rPr sz="1000" b="1">
                <a:solidFill>
                  <a:srgbClr val="94A3B8"/>
                </a:solidFill>
              </a:rPr>
              <a:t>OPERATOR INTERFACE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watsonx.ai &amp; Control Console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>
                <a:solidFill>
                  <a:srgbClr val="CBD5E1"/>
                </a:solidFill>
              </a:rPr>
              <a:t>• IBM watsonx.ai Granite Foundation Models for briefing synthesis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Real-time Streamlit Operations Console (10 specialized modules)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Interactive Plotly visual telemetry &amp; contingency alerting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4-Point Curtailment Minimization dispatch instructions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97C6EF9-F708-090F-7511-512DF7B6DAD8}"/>
              </a:ext>
            </a:extLst>
          </p:cNvPr>
          <p:cNvSpPr/>
          <p:nvPr/>
        </p:nvSpPr>
        <p:spPr>
          <a:xfrm>
            <a:off x="731838" y="5989638"/>
            <a:ext cx="10728325" cy="503237"/>
          </a:xfrm>
          <a:prstGeom prst="roundRect">
            <a:avLst/>
          </a:prstGeom>
          <a:solidFill>
            <a:srgbClr val="142440"/>
          </a:solidFill>
          <a:ln w="12700">
            <a:solidFill>
              <a:srgbClr val="1E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73152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BD5E1"/>
                </a:solidFill>
                <a:latin typeface="Calibri"/>
              </a:defRPr>
            </a:pPr>
            <a:r>
              <a:rPr sz="1200" b="1">
                <a:solidFill>
                  <a:srgbClr val="CBD5E1"/>
                </a:solidFill>
              </a:rPr>
              <a:t>🔒 ENTERPRISE GRADE: Sub-second SCADA ingestion latency • NERC-CIP compliance ready • Hallucination-free deterministic guardrails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3D5FCD-36F0-620A-D1F6-1E8767F70C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73A69E1-696E-54BA-9705-79DAE3919FA3}"/>
              </a:ext>
            </a:extLst>
          </p:cNvPr>
          <p:cNvSpPr/>
          <p:nvPr/>
        </p:nvSpPr>
        <p:spPr>
          <a:xfrm>
            <a:off x="731838" y="384175"/>
            <a:ext cx="3840162" cy="29210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F2FE"/>
                </a:solidFill>
                <a:latin typeface="Calibri"/>
              </a:defRPr>
            </a:pPr>
            <a:r>
              <a:rPr sz="1050" b="1">
                <a:solidFill>
                  <a:srgbClr val="00F2FE"/>
                </a:solidFill>
              </a:rPr>
              <a:t>■ FLAGSHIP DEMO FEATURE</a:t>
            </a:r>
          </a:p>
        </p:txBody>
      </p:sp>
      <p:sp>
        <p:nvSpPr>
          <p:cNvPr id="6148" name="TextBox 3">
            <a:extLst>
              <a:ext uri="{FF2B5EF4-FFF2-40B4-BE49-F238E27FC236}">
                <a16:creationId xmlns:a16="http://schemas.microsoft.com/office/drawing/2014/main" id="{8B9A8B32-01F2-8074-65E8-AA7C4BA88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712788"/>
            <a:ext cx="10790238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300"/>
              </a:spcAft>
            </a:pPr>
            <a:r>
              <a:rPr lang="en-US" altLang="en-US" sz="2800" b="1">
                <a:solidFill>
                  <a:srgbClr val="FFFFFF"/>
                </a:solidFill>
              </a:rPr>
              <a:t>The AI Operator Brief &amp; Curtailment Minimization Engine</a:t>
            </a:r>
          </a:p>
          <a:p>
            <a:pPr eaLnBrk="1" hangingPunct="1"/>
            <a:r>
              <a:rPr lang="en-US" altLang="en-US" sz="1400">
                <a:solidFill>
                  <a:srgbClr val="94A3B8"/>
                </a:solidFill>
              </a:rPr>
              <a:t>Transforming complex multi-variable SCADA telemetry into an instant, actionable dispatch protocol.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C2C52D-B4F2-A1E6-426B-54033D2CE7FA}"/>
              </a:ext>
            </a:extLst>
          </p:cNvPr>
          <p:cNvSpPr/>
          <p:nvPr/>
        </p:nvSpPr>
        <p:spPr>
          <a:xfrm>
            <a:off x="731838" y="1920875"/>
            <a:ext cx="5119687" cy="4479925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1000"/>
              </a:spcAft>
              <a:defRPr sz="1300" b="1">
                <a:solidFill>
                  <a:srgbClr val="FB7185"/>
                </a:solidFill>
                <a:latin typeface="Calibri"/>
              </a:defRPr>
            </a:pPr>
            <a:r>
              <a:rPr sz="1300" b="1">
                <a:solidFill>
                  <a:srgbClr val="FB7185"/>
                </a:solidFill>
              </a:rPr>
              <a:t>LIVE INCIDENT DETECTION (SCADA TELEMETRY)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250">
                <a:solidFill>
                  <a:srgbClr val="FFFFFF"/>
                </a:solidFill>
                <a:latin typeface="Calibri"/>
              </a:defRPr>
            </a:pPr>
            <a:r>
              <a:rPr sz="1250">
                <a:solidFill>
                  <a:srgbClr val="FFFFFF"/>
                </a:solidFill>
              </a:rPr>
              <a:t>⚡ Peak Demand Surge: 750 MW at 18:00 interval</a:t>
            </a:r>
            <a:br>
              <a:rPr sz="1250">
                <a:solidFill>
                  <a:srgbClr val="FFFFFF"/>
                </a:solidFill>
              </a:rPr>
            </a:br>
            <a:r>
              <a:rPr sz="1250">
                <a:solidFill>
                  <a:srgbClr val="FFFFFF"/>
                </a:solidFill>
              </a:rPr>
              <a:t>   • Forecasted 2h ahead via rolling-average model</a:t>
            </a:r>
            <a:br>
              <a:rPr sz="1250">
                <a:solidFill>
                  <a:srgbClr val="FFFFFF"/>
                </a:solidFill>
              </a:rPr>
            </a:br>
            <a:r>
              <a:rPr sz="1250">
                <a:solidFill>
                  <a:srgbClr val="FFFFFF"/>
                </a:solidFill>
              </a:rPr>
              <a:t>   • Breach of 700 MW critical grid stability threshold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250">
                <a:solidFill>
                  <a:srgbClr val="FBBF24"/>
                </a:solidFill>
                <a:latin typeface="Calibri"/>
              </a:defRPr>
            </a:pPr>
            <a:r>
              <a:rPr sz="1250">
                <a:solidFill>
                  <a:srgbClr val="FBBF24"/>
                </a:solidFill>
              </a:rPr>
              <a:t>🔍 Renewable Shortfall: 90 MW Solar Deficit at 14:00</a:t>
            </a:r>
            <a:br>
              <a:rPr sz="1250">
                <a:solidFill>
                  <a:srgbClr val="FBBF24"/>
                </a:solidFill>
              </a:rPr>
            </a:br>
            <a:r>
              <a:rPr sz="1250">
                <a:solidFill>
                  <a:srgbClr val="FBBF24"/>
                </a:solidFill>
              </a:rPr>
              <a:t>   • Expected 280 MW vs Actual 190 MW (32% underperformance)</a:t>
            </a:r>
            <a:br>
              <a:rPr sz="1250">
                <a:solidFill>
                  <a:srgbClr val="FBBF24"/>
                </a:solidFill>
              </a:rPr>
            </a:br>
            <a:r>
              <a:rPr sz="1250">
                <a:solidFill>
                  <a:srgbClr val="FBBF24"/>
                </a:solidFill>
              </a:rPr>
              <a:t>   • Deviation exceeds 50 MW threshold, triggering diagnostic alarm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250">
                <a:solidFill>
                  <a:srgbClr val="00F2FE"/>
                </a:solidFill>
                <a:latin typeface="Calibri"/>
              </a:defRPr>
            </a:pPr>
            <a:r>
              <a:rPr sz="1250">
                <a:solidFill>
                  <a:srgbClr val="00F2FE"/>
                </a:solidFill>
              </a:rPr>
              <a:t>🎯 Multi-Factor Grid Risk Score: 80 / 100 [🔴 HIGH RISK]</a:t>
            </a:r>
            <a:br>
              <a:rPr sz="1250">
                <a:solidFill>
                  <a:srgbClr val="00F2FE"/>
                </a:solidFill>
              </a:rPr>
            </a:br>
            <a:r>
              <a:rPr sz="1250">
                <a:solidFill>
                  <a:srgbClr val="00F2FE"/>
                </a:solidFill>
              </a:rPr>
              <a:t>   • Demand &gt;700MW (+50) + Solar Gap &gt;50MW (+30) = 80 Points</a:t>
            </a:r>
            <a:br>
              <a:rPr sz="1250">
                <a:solidFill>
                  <a:srgbClr val="00F2FE"/>
                </a:solidFill>
              </a:rPr>
            </a:br>
            <a:r>
              <a:rPr sz="1250">
                <a:solidFill>
                  <a:srgbClr val="00F2FE"/>
                </a:solidFill>
              </a:rPr>
              <a:t>   • High risk classification mandates automated contingency execution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250">
                <a:solidFill>
                  <a:srgbClr val="CBD5E1"/>
                </a:solidFill>
                <a:latin typeface="Calibri"/>
              </a:defRPr>
            </a:pPr>
            <a:r>
              <a:rPr sz="1250">
                <a:solidFill>
                  <a:srgbClr val="CBD5E1"/>
                </a:solidFill>
              </a:rPr>
              <a:t>🛠️ Root Cause Diagnosis:</a:t>
            </a:r>
            <a:br>
              <a:rPr sz="1250">
                <a:solidFill>
                  <a:srgbClr val="CBD5E1"/>
                </a:solidFill>
              </a:rPr>
            </a:br>
            <a:r>
              <a:rPr sz="1250">
                <a:solidFill>
                  <a:srgbClr val="CBD5E1"/>
                </a:solidFill>
              </a:rPr>
              <a:t>   • Inverter Bank #3 Thermal Trip + Passing Cloud Front (Sector B)</a:t>
            </a:r>
            <a:br>
              <a:rPr sz="1250">
                <a:solidFill>
                  <a:srgbClr val="CBD5E1"/>
                </a:solidFill>
              </a:rPr>
            </a:br>
            <a:r>
              <a:rPr sz="1250">
                <a:solidFill>
                  <a:srgbClr val="CBD5E1"/>
                </a:solidFill>
              </a:rPr>
              <a:t>   • Asset isolated; scheduled maintenance crew automatically notified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6CA364-6744-6537-7F2E-E86CF4FF039E}"/>
              </a:ext>
            </a:extLst>
          </p:cNvPr>
          <p:cNvSpPr/>
          <p:nvPr/>
        </p:nvSpPr>
        <p:spPr>
          <a:xfrm>
            <a:off x="6218238" y="1920875"/>
            <a:ext cx="5241925" cy="4479925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1000"/>
              </a:spcAft>
              <a:defRPr sz="1300" b="1">
                <a:solidFill>
                  <a:srgbClr val="34D399"/>
                </a:solidFill>
                <a:latin typeface="Calibri"/>
              </a:defRPr>
            </a:pPr>
            <a:r>
              <a:rPr sz="1300" b="1">
                <a:solidFill>
                  <a:srgbClr val="34D399"/>
                </a:solidFill>
              </a:rPr>
              <a:t>GENERATED OPERATOR BRIEF (watsonx.ai)</a:t>
            </a:r>
          </a:p>
          <a:p>
            <a:pPr eaLnBrk="1" fontAlgn="auto" hangingPunct="1">
              <a:spcBef>
                <a:spcPts val="0"/>
              </a:spcBef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rPr sz="1200">
                <a:solidFill>
                  <a:srgbClr val="FFFFFF"/>
                </a:solidFill>
              </a:rPr>
              <a:t>01. RENEWABLE DISPATCH PRIORITY</a:t>
            </a:r>
            <a:br>
              <a:rPr sz="1200">
                <a:solidFill>
                  <a:srgbClr val="FFFFFF"/>
                </a:solidFill>
              </a:rPr>
            </a:br>
            <a:r>
              <a:rPr sz="1200">
                <a:solidFill>
                  <a:srgbClr val="FFFFFF"/>
                </a:solidFill>
              </a:rPr>
              <a:t>• Lock available 148 MW wind baseload to absorb demand.</a:t>
            </a:r>
            <a:br>
              <a:rPr sz="1200">
                <a:solidFill>
                  <a:srgbClr val="FFFFFF"/>
                </a:solidFill>
              </a:rPr>
            </a:br>
            <a:r>
              <a:rPr sz="1200">
                <a:solidFill>
                  <a:srgbClr val="FFFFFF"/>
                </a:solidFill>
              </a:rPr>
              <a:t>• Restrict fossil-fuel spinning reserve activation to zero-carbon headroom.</a:t>
            </a:r>
          </a:p>
          <a:p>
            <a:pPr eaLnBrk="1" fontAlgn="auto" hangingPunct="1">
              <a:spcBef>
                <a:spcPts val="0"/>
              </a:spcBef>
              <a:spcAft>
                <a:spcPts val="600"/>
              </a:spcAft>
              <a:defRPr sz="1200">
                <a:solidFill>
                  <a:srgbClr val="00F2FE"/>
                </a:solidFill>
                <a:latin typeface="Calibri"/>
              </a:defRPr>
            </a:pPr>
            <a:r>
              <a:rPr sz="1200">
                <a:solidFill>
                  <a:srgbClr val="00F2FE"/>
                </a:solidFill>
              </a:rPr>
              <a:t>02. BATTERY STORAGE PRE-CHARGE (BESS)</a:t>
            </a:r>
            <a:br>
              <a:rPr sz="1200">
                <a:solidFill>
                  <a:srgbClr val="00F2FE"/>
                </a:solidFill>
              </a:rPr>
            </a:br>
            <a:r>
              <a:rPr sz="1200">
                <a:solidFill>
                  <a:srgbClr val="00F2FE"/>
                </a:solidFill>
              </a:rPr>
              <a:t>• Pre-charge 45 MW utility battery storage during midday solar window.</a:t>
            </a:r>
            <a:br>
              <a:rPr sz="1200">
                <a:solidFill>
                  <a:srgbClr val="00F2FE"/>
                </a:solidFill>
              </a:rPr>
            </a:br>
            <a:r>
              <a:rPr sz="1200">
                <a:solidFill>
                  <a:srgbClr val="00F2FE"/>
                </a:solidFill>
              </a:rPr>
              <a:t>• Discharge stored clean energy during 18:00 peak to offset solar drop.</a:t>
            </a:r>
          </a:p>
          <a:p>
            <a:pPr eaLnBrk="1" fontAlgn="auto" hangingPunct="1">
              <a:spcBef>
                <a:spcPts val="0"/>
              </a:spcBef>
              <a:spcAft>
                <a:spcPts val="600"/>
              </a:spcAft>
              <a:defRPr sz="1200">
                <a:solidFill>
                  <a:srgbClr val="FBBF24"/>
                </a:solidFill>
                <a:latin typeface="Calibri"/>
              </a:defRPr>
            </a:pPr>
            <a:r>
              <a:rPr sz="1200">
                <a:solidFill>
                  <a:srgbClr val="FBBF24"/>
                </a:solidFill>
              </a:rPr>
              <a:t>03. AUTOMATED DEMAND RESPONSE (DR)</a:t>
            </a:r>
            <a:br>
              <a:rPr sz="1200">
                <a:solidFill>
                  <a:srgbClr val="FBBF24"/>
                </a:solidFill>
              </a:rPr>
            </a:br>
            <a:r>
              <a:rPr sz="1200">
                <a:solidFill>
                  <a:srgbClr val="FBBF24"/>
                </a:solidFill>
              </a:rPr>
              <a:t>• Send automated load-shaving signals to flexible industrial consumers.</a:t>
            </a:r>
            <a:br>
              <a:rPr sz="1200">
                <a:solidFill>
                  <a:srgbClr val="FBBF24"/>
                </a:solidFill>
              </a:rPr>
            </a:br>
            <a:r>
              <a:rPr sz="1200">
                <a:solidFill>
                  <a:srgbClr val="FBBF24"/>
                </a:solidFill>
              </a:rPr>
              <a:t>• Shed 35 MW non-critical peak load between 17:30 and 19:30.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34D399"/>
                </a:solidFill>
                <a:latin typeface="Calibri"/>
              </a:defRPr>
            </a:pPr>
            <a:r>
              <a:rPr sz="1200">
                <a:solidFill>
                  <a:srgbClr val="34D399"/>
                </a:solidFill>
              </a:rPr>
              <a:t>04. INTERCONNECTION HEADROOM DISPATCH</a:t>
            </a:r>
            <a:br>
              <a:rPr sz="1200">
                <a:solidFill>
                  <a:srgbClr val="34D399"/>
                </a:solidFill>
              </a:rPr>
            </a:br>
            <a:r>
              <a:rPr sz="1200">
                <a:solidFill>
                  <a:srgbClr val="34D399"/>
                </a:solidFill>
              </a:rPr>
              <a:t>• Re-route transmission power via Substation Feeder 4B.</a:t>
            </a:r>
            <a:br>
              <a:rPr sz="1200">
                <a:solidFill>
                  <a:srgbClr val="34D399"/>
                </a:solidFill>
              </a:rPr>
            </a:br>
            <a:r>
              <a:rPr sz="1200">
                <a:solidFill>
                  <a:srgbClr val="34D399"/>
                </a:solidFill>
              </a:rPr>
              <a:t>• Safely maintain grid frequency at 60.0 Hz with ZERO curtailed MW.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9605F-AF92-A6AE-76C7-2EAD082BBE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B05BD3C-A0B8-7191-B926-D82AB2DF57EF}"/>
              </a:ext>
            </a:extLst>
          </p:cNvPr>
          <p:cNvSpPr/>
          <p:nvPr/>
        </p:nvSpPr>
        <p:spPr>
          <a:xfrm>
            <a:off x="731838" y="384175"/>
            <a:ext cx="3840162" cy="29210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F62FE"/>
                </a:solidFill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■ IBM ENTERPRISE TECHNOLOGY INTEGRATION</a:t>
            </a:r>
          </a:p>
        </p:txBody>
      </p:sp>
      <p:sp>
        <p:nvSpPr>
          <p:cNvPr id="7172" name="TextBox 3">
            <a:extLst>
              <a:ext uri="{FF2B5EF4-FFF2-40B4-BE49-F238E27FC236}">
                <a16:creationId xmlns:a16="http://schemas.microsoft.com/office/drawing/2014/main" id="{5F0FDCA9-19C1-3090-E4F0-D4214C7BB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712788"/>
            <a:ext cx="10790238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300"/>
              </a:spcAft>
            </a:pPr>
            <a:r>
              <a:rPr lang="en-US" altLang="en-US" sz="2800" b="1">
                <a:solidFill>
                  <a:srgbClr val="FFFFFF"/>
                </a:solidFill>
              </a:rPr>
              <a:t>Powered by IBM Cloud, watsonx &amp; Climate Intelligence</a:t>
            </a:r>
          </a:p>
          <a:p>
            <a:pPr eaLnBrk="1" hangingPunct="1"/>
            <a:r>
              <a:rPr lang="en-US" altLang="en-US" sz="1400">
                <a:solidFill>
                  <a:srgbClr val="94A3B8"/>
                </a:solidFill>
              </a:rPr>
              <a:t>Enterprise-grade foundation models, high-performance data lakehouse, and environmental physics.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F932C4B-4E11-25CE-3D7B-45500434EA9F}"/>
              </a:ext>
            </a:extLst>
          </p:cNvPr>
          <p:cNvSpPr/>
          <p:nvPr/>
        </p:nvSpPr>
        <p:spPr>
          <a:xfrm>
            <a:off x="731838" y="1920875"/>
            <a:ext cx="5241925" cy="2147888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IBM watsonx.ai (Granite Foundation Models)</a:t>
            </a:r>
          </a:p>
          <a:p>
            <a:pPr eaLnBrk="1" fontAlgn="auto" hangingPunct="1">
              <a:spcBef>
                <a:spcPts val="0"/>
              </a:spcBef>
              <a:spcAft>
                <a:spcPts val="600"/>
              </a:spcAft>
              <a:defRPr sz="1050" b="1">
                <a:solidFill>
                  <a:srgbClr val="00F2FE"/>
                </a:solidFill>
                <a:latin typeface="Calibri"/>
              </a:defRPr>
            </a:pPr>
            <a:r>
              <a:rPr sz="1050" b="1">
                <a:solidFill>
                  <a:srgbClr val="00F2FE"/>
                </a:solidFill>
              </a:rPr>
              <a:t>ROLE: GENERATIVE AI REASONING &amp; OPERATOR BRIEFS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>
                <a:solidFill>
                  <a:srgbClr val="CBD5E1"/>
                </a:solidFill>
              </a:rPr>
              <a:t>• Ingests multi-variable telemetry and generates natural language executive briefs.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Chain-of-thought diagnostic reasoning differentiates weather vs asset trips.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Strict prompt guardrails prevent hallucination in mission-critical grid operations.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Formulates compliant NERC/FERC dispatch recommendations in &lt;3 seconds.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53083AD-D913-3782-BB3A-C30DD67AB245}"/>
              </a:ext>
            </a:extLst>
          </p:cNvPr>
          <p:cNvSpPr/>
          <p:nvPr/>
        </p:nvSpPr>
        <p:spPr>
          <a:xfrm>
            <a:off x="6218238" y="1920875"/>
            <a:ext cx="5241925" cy="2147888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IBM watsonx.data (Open Data Lakehouse)</a:t>
            </a:r>
          </a:p>
          <a:p>
            <a:pPr eaLnBrk="1" fontAlgn="auto" hangingPunct="1">
              <a:spcBef>
                <a:spcPts val="0"/>
              </a:spcBef>
              <a:spcAft>
                <a:spcPts val="600"/>
              </a:spcAft>
              <a:defRPr sz="1050" b="1">
                <a:solidFill>
                  <a:srgbClr val="0F62FE"/>
                </a:solidFill>
                <a:latin typeface="Calibri"/>
              </a:defRPr>
            </a:pPr>
            <a:r>
              <a:rPr sz="1050" b="1">
                <a:solidFill>
                  <a:srgbClr val="0F62FE"/>
                </a:solidFill>
              </a:rPr>
              <a:t>ROLE: TELEMETRY INGESTION &amp; HIGH-SPEED LAKEHOUSE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>
                <a:solidFill>
                  <a:srgbClr val="CBD5E1"/>
                </a:solidFill>
              </a:rPr>
              <a:t>• Scalable lakehouse built on Apache Iceberg for SCADA time-series storage.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Presto query engine delivers sub-second cross-database aggregation across substations.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Unifies operational historian data, sensor logs, and real-time smart meter feeds.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Hybrid cloud portability across utility edge gateways and regional servers.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5D3C92-26BB-4DEA-E158-341B5D2ED439}"/>
              </a:ext>
            </a:extLst>
          </p:cNvPr>
          <p:cNvSpPr/>
          <p:nvPr/>
        </p:nvSpPr>
        <p:spPr>
          <a:xfrm>
            <a:off x="731838" y="4160838"/>
            <a:ext cx="5241925" cy="2147887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IBM Watson Machine Learning &amp; AutoAI</a:t>
            </a:r>
          </a:p>
          <a:p>
            <a:pPr eaLnBrk="1" fontAlgn="auto" hangingPunct="1">
              <a:spcBef>
                <a:spcPts val="0"/>
              </a:spcBef>
              <a:spcAft>
                <a:spcPts val="600"/>
              </a:spcAft>
              <a:defRPr sz="1050" b="1">
                <a:solidFill>
                  <a:srgbClr val="F59E0B"/>
                </a:solidFill>
                <a:latin typeface="Calibri"/>
              </a:defRPr>
            </a:pPr>
            <a:r>
              <a:rPr sz="1050" b="1">
                <a:solidFill>
                  <a:srgbClr val="F59E0B"/>
                </a:solidFill>
              </a:rPr>
              <a:t>ROLE: PREDICTIVE LOAD SPIKE &amp; ANOMALY MODELS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>
                <a:solidFill>
                  <a:srgbClr val="CBD5E1"/>
                </a:solidFill>
              </a:rPr>
              <a:t>• Rolling-average and gradient-boosted models predicting demand ramps 2–4 hours ahead.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Continuous drift monitoring adapting to seasonal weather swings.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Automatic hyperparameter tuning for solar degradation baselines.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Automated deviation filters alerting on &gt;50 MW generation deficits.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168A914-A25A-B56D-EAD9-63F3749C7C6F}"/>
              </a:ext>
            </a:extLst>
          </p:cNvPr>
          <p:cNvSpPr/>
          <p:nvPr/>
        </p:nvSpPr>
        <p:spPr>
          <a:xfrm>
            <a:off x="6218238" y="4160838"/>
            <a:ext cx="5241925" cy="2147887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</a:rPr>
              <a:t>IBM Environmental Intelligence Suite (EIS)</a:t>
            </a:r>
          </a:p>
          <a:p>
            <a:pPr eaLnBrk="1" fontAlgn="auto" hangingPunct="1">
              <a:spcBef>
                <a:spcPts val="0"/>
              </a:spcBef>
              <a:spcAft>
                <a:spcPts val="600"/>
              </a:spcAft>
              <a:defRPr sz="1050" b="1">
                <a:solidFill>
                  <a:srgbClr val="10B981"/>
                </a:solidFill>
                <a:latin typeface="Calibri"/>
              </a:defRPr>
            </a:pPr>
            <a:r>
              <a:rPr sz="1050" b="1">
                <a:solidFill>
                  <a:srgbClr val="10B981"/>
                </a:solidFill>
              </a:rPr>
              <a:t>ROLE: HYPER-LOCAL WEATHER &amp; IRRADIANCE BASELINES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>
                <a:solidFill>
                  <a:srgbClr val="CBD5E1"/>
                </a:solidFill>
              </a:rPr>
              <a:t>• High-resolution solar irradiance (GHI/DNI), cloud cover tracking, and wind vectors.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Establishes ground-truth 'Expected Generation' physics baselines.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Prevents false alarms by recognizing passing cloud fronts before dispatchers see them.</a:t>
            </a:r>
            <a:br>
              <a:rPr sz="1150">
                <a:solidFill>
                  <a:srgbClr val="CBD5E1"/>
                </a:solidFill>
              </a:rPr>
            </a:br>
            <a:r>
              <a:rPr sz="1150">
                <a:solidFill>
                  <a:srgbClr val="CBD5E1"/>
                </a:solidFill>
              </a:rPr>
              <a:t>• Informs optimal battery pre-charge timing based on solar surplus forecast.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21094B-7E29-04FD-FEAE-7DB5520F89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0EC9578-467A-968C-DCE0-06E4559BF8D8}"/>
              </a:ext>
            </a:extLst>
          </p:cNvPr>
          <p:cNvSpPr/>
          <p:nvPr/>
        </p:nvSpPr>
        <p:spPr>
          <a:xfrm>
            <a:off x="731838" y="384175"/>
            <a:ext cx="3840162" cy="29210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B981"/>
                </a:solidFill>
                <a:latin typeface="Calibri"/>
              </a:defRPr>
            </a:pPr>
            <a:r>
              <a:rPr sz="1050" b="1">
                <a:solidFill>
                  <a:srgbClr val="10B981"/>
                </a:solidFill>
              </a:rPr>
              <a:t>■ QUANTIFIABLE RESULTS &amp; IMPACT</a:t>
            </a:r>
          </a:p>
        </p:txBody>
      </p:sp>
      <p:sp>
        <p:nvSpPr>
          <p:cNvPr id="8196" name="TextBox 3">
            <a:extLst>
              <a:ext uri="{FF2B5EF4-FFF2-40B4-BE49-F238E27FC236}">
                <a16:creationId xmlns:a16="http://schemas.microsoft.com/office/drawing/2014/main" id="{272E890C-6910-3694-52E5-734A978A4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712788"/>
            <a:ext cx="10790238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300"/>
              </a:spcAft>
            </a:pPr>
            <a:r>
              <a:rPr lang="en-US" altLang="en-US" sz="2800" b="1">
                <a:solidFill>
                  <a:srgbClr val="FFFFFF"/>
                </a:solidFill>
              </a:rPr>
              <a:t>Transformative Value for Utilities, Operators &amp; the Planet</a:t>
            </a:r>
          </a:p>
          <a:p>
            <a:pPr eaLnBrk="1" hangingPunct="1"/>
            <a:r>
              <a:rPr lang="en-US" altLang="en-US" sz="1400">
                <a:solidFill>
                  <a:srgbClr val="94A3B8"/>
                </a:solidFill>
              </a:rPr>
              <a:t>Validated metrics: Recovering curtailed power, stabilizing grids, and eliminating carbon peakers.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7B34759-C0B7-3EBC-1AD1-7264FA7B9563}"/>
              </a:ext>
            </a:extLst>
          </p:cNvPr>
          <p:cNvSpPr/>
          <p:nvPr/>
        </p:nvSpPr>
        <p:spPr>
          <a:xfrm>
            <a:off x="731838" y="1920875"/>
            <a:ext cx="2514600" cy="1919288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sz="3200" b="1">
                <a:solidFill>
                  <a:srgbClr val="FFFFFF"/>
                </a:solidFill>
              </a:rPr>
              <a:t>40% – 60%</a:t>
            </a:r>
          </a:p>
          <a:p>
            <a:pPr eaLnBrk="1" fontAlgn="auto" hangingPunct="1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rPr sz="1300" b="1">
                <a:solidFill>
                  <a:srgbClr val="10B981"/>
                </a:solidFill>
              </a:rPr>
              <a:t>Curtailment Reduction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94A3B8"/>
                </a:solidFill>
                <a:latin typeface="Calibri"/>
              </a:defRPr>
            </a:pPr>
            <a:r>
              <a:rPr sz="1150">
                <a:solidFill>
                  <a:srgbClr val="94A3B8"/>
                </a:solidFill>
              </a:rPr>
              <a:t>Recovers 3.2 to 4.8 TWh of renewable power previously dumped each year.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63A609-7E92-D25E-97BE-C507014D4A3E}"/>
              </a:ext>
            </a:extLst>
          </p:cNvPr>
          <p:cNvSpPr/>
          <p:nvPr/>
        </p:nvSpPr>
        <p:spPr>
          <a:xfrm>
            <a:off x="3475038" y="1920875"/>
            <a:ext cx="2514600" cy="1919288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sz="3200" b="1">
                <a:solidFill>
                  <a:srgbClr val="FFFFFF"/>
                </a:solidFill>
              </a:rPr>
              <a:t>2 – 4 Hours</a:t>
            </a:r>
          </a:p>
          <a:p>
            <a:pPr eaLnBrk="1" fontAlgn="auto" hangingPunct="1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0F2FE"/>
                </a:solidFill>
                <a:latin typeface="Calibri"/>
              </a:defRPr>
            </a:pPr>
            <a:r>
              <a:rPr sz="1300" b="1">
                <a:solidFill>
                  <a:srgbClr val="00F2FE"/>
                </a:solidFill>
              </a:rPr>
              <a:t>Advance Spike Warning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94A3B8"/>
                </a:solidFill>
                <a:latin typeface="Calibri"/>
              </a:defRPr>
            </a:pPr>
            <a:r>
              <a:rPr sz="1150">
                <a:solidFill>
                  <a:srgbClr val="94A3B8"/>
                </a:solidFill>
              </a:rPr>
              <a:t>Predictive lead time on extreme evening ramps, eliminating emergency fossil peakers.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C43C9B3-5014-A5AF-507C-CC2F65852D8D}"/>
              </a:ext>
            </a:extLst>
          </p:cNvPr>
          <p:cNvSpPr/>
          <p:nvPr/>
        </p:nvSpPr>
        <p:spPr>
          <a:xfrm>
            <a:off x="6218238" y="1920875"/>
            <a:ext cx="2514600" cy="1919288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sz="3200" b="1">
                <a:solidFill>
                  <a:srgbClr val="FFFFFF"/>
                </a:solidFill>
              </a:rPr>
              <a:t>$500M+</a:t>
            </a:r>
          </a:p>
          <a:p>
            <a:pPr eaLnBrk="1" fontAlgn="auto" hangingPunct="1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rPr sz="1300" b="1">
                <a:solidFill>
                  <a:srgbClr val="F59E0B"/>
                </a:solidFill>
              </a:rPr>
              <a:t>Annual Value Recovered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94A3B8"/>
                </a:solidFill>
                <a:latin typeface="Calibri"/>
              </a:defRPr>
            </a:pPr>
            <a:r>
              <a:rPr sz="1150">
                <a:solidFill>
                  <a:srgbClr val="94A3B8"/>
                </a:solidFill>
              </a:rPr>
              <a:t>Wholesale green electricity revenue captured + avoided capacity outage penalties.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CEA0A2-E8EB-A086-3B83-46844FC969A7}"/>
              </a:ext>
            </a:extLst>
          </p:cNvPr>
          <p:cNvSpPr/>
          <p:nvPr/>
        </p:nvSpPr>
        <p:spPr>
          <a:xfrm>
            <a:off x="8961438" y="1920875"/>
            <a:ext cx="2514600" cy="1919288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sz="3200" b="1">
                <a:solidFill>
                  <a:srgbClr val="FFFFFF"/>
                </a:solidFill>
              </a:rPr>
              <a:t>&lt; 3 Sec</a:t>
            </a:r>
          </a:p>
          <a:p>
            <a:pPr eaLnBrk="1" fontAlgn="auto" hangingPunct="1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rPr sz="1300" b="1">
                <a:solidFill>
                  <a:srgbClr val="38BDF8"/>
                </a:solidFill>
              </a:rPr>
              <a:t>Decision Brief Latency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94A3B8"/>
                </a:solidFill>
                <a:latin typeface="Calibri"/>
              </a:defRPr>
            </a:pPr>
            <a:r>
              <a:rPr sz="1150">
                <a:solidFill>
                  <a:srgbClr val="94A3B8"/>
                </a:solidFill>
              </a:rPr>
              <a:t>Instant AI synthesis replacing 45 minutes of manual operator panic during crises.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012AD56-C1C8-EC78-43A1-601A95542D8D}"/>
              </a:ext>
            </a:extLst>
          </p:cNvPr>
          <p:cNvSpPr/>
          <p:nvPr/>
        </p:nvSpPr>
        <p:spPr>
          <a:xfrm>
            <a:off x="731838" y="4022725"/>
            <a:ext cx="5211762" cy="228600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anchor="ctr"/>
          <a:lstStyle/>
          <a:p>
            <a:pPr algn="ctr" eaLnBrk="1" fontAlgn="auto" hangingPunct="1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B7185"/>
                </a:solidFill>
                <a:latin typeface="Calibri"/>
              </a:defRPr>
            </a:pPr>
            <a:r>
              <a:rPr sz="1300" b="1">
                <a:solidFill>
                  <a:srgbClr val="FB7185"/>
                </a:solidFill>
              </a:rPr>
              <a:t>❌ TODAY'S REALITY (WITHOUT GRIDWISE AI)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rPr sz="1200">
                <a:solidFill>
                  <a:srgbClr val="CBD5E1"/>
                </a:solidFill>
              </a:rPr>
              <a:t>• Manual spreadsheets and fragmented SCADA monitors.</a:t>
            </a:r>
            <a:br>
              <a:rPr sz="1200">
                <a:solidFill>
                  <a:srgbClr val="CBD5E1"/>
                </a:solidFill>
              </a:rPr>
            </a:br>
            <a:r>
              <a:rPr sz="1200">
                <a:solidFill>
                  <a:srgbClr val="CBD5E1"/>
                </a:solidFill>
              </a:rPr>
              <a:t>• Reactive crisis management with zero advance spike visibility.</a:t>
            </a:r>
            <a:br>
              <a:rPr sz="1200">
                <a:solidFill>
                  <a:srgbClr val="CBD5E1"/>
                </a:solidFill>
              </a:rPr>
            </a:br>
            <a:r>
              <a:rPr sz="1200">
                <a:solidFill>
                  <a:srgbClr val="CBD5E1"/>
                </a:solidFill>
              </a:rPr>
              <a:t>• 8 TWh clean power curtailed due to lack of real-time balancing.</a:t>
            </a:r>
            <a:br>
              <a:rPr sz="1200">
                <a:solidFill>
                  <a:srgbClr val="CBD5E1"/>
                </a:solidFill>
              </a:rPr>
            </a:br>
            <a:r>
              <a:rPr sz="1200">
                <a:solidFill>
                  <a:srgbClr val="CBD5E1"/>
                </a:solidFill>
              </a:rPr>
              <a:t>• Costly fossil peakers fired up to cover unexpected ramps.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7316C4B-9853-441C-6166-713ED9231B24}"/>
              </a:ext>
            </a:extLst>
          </p:cNvPr>
          <p:cNvSpPr/>
          <p:nvPr/>
        </p:nvSpPr>
        <p:spPr>
          <a:xfrm>
            <a:off x="6218238" y="4022725"/>
            <a:ext cx="5241925" cy="228600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anchor="ctr"/>
          <a:lstStyle/>
          <a:p>
            <a:pPr algn="ctr" eaLnBrk="1" fontAlgn="auto" hangingPunct="1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34D399"/>
                </a:solidFill>
                <a:latin typeface="Calibri"/>
              </a:defRPr>
            </a:pPr>
            <a:r>
              <a:rPr sz="1300" b="1">
                <a:solidFill>
                  <a:srgbClr val="34D399"/>
                </a:solidFill>
              </a:rPr>
              <a:t>✅ FUTURE DISPATCH (WITH GRIDWISE AI)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rPr sz="1200">
                <a:solidFill>
                  <a:srgbClr val="CBD5E1"/>
                </a:solidFill>
              </a:rPr>
              <a:t>• Unified single-pane-of-glass operations center.</a:t>
            </a:r>
            <a:br>
              <a:rPr sz="1200">
                <a:solidFill>
                  <a:srgbClr val="CBD5E1"/>
                </a:solidFill>
              </a:rPr>
            </a:br>
            <a:r>
              <a:rPr sz="1200">
                <a:solidFill>
                  <a:srgbClr val="CBD5E1"/>
                </a:solidFill>
              </a:rPr>
              <a:t>• 2–4 Hour automated spike foresight with rolling ML models.</a:t>
            </a:r>
            <a:br>
              <a:rPr sz="1200">
                <a:solidFill>
                  <a:srgbClr val="CBD5E1"/>
                </a:solidFill>
              </a:rPr>
            </a:br>
            <a:r>
              <a:rPr sz="1200">
                <a:solidFill>
                  <a:srgbClr val="CBD5E1"/>
                </a:solidFill>
              </a:rPr>
              <a:t>• 40–60% curtailment recovered into BESS and industrial DR.</a:t>
            </a:r>
            <a:br>
              <a:rPr sz="1200">
                <a:solidFill>
                  <a:srgbClr val="CBD5E1"/>
                </a:solidFill>
              </a:rPr>
            </a:br>
            <a:r>
              <a:rPr sz="1200">
                <a:solidFill>
                  <a:srgbClr val="CBD5E1"/>
                </a:solidFill>
              </a:rPr>
              <a:t>• Real-time root cause isolation keeps risk score &lt;40 constantly.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5F9DE8-D0BF-0694-275C-B1ADE0A700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8EB4E32-5E50-93F2-A4E8-8C071994136E}"/>
              </a:ext>
            </a:extLst>
          </p:cNvPr>
          <p:cNvSpPr/>
          <p:nvPr/>
        </p:nvSpPr>
        <p:spPr>
          <a:xfrm>
            <a:off x="731838" y="384175"/>
            <a:ext cx="3840162" cy="29210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F2FE"/>
                </a:solidFill>
                <a:latin typeface="Calibri"/>
              </a:defRPr>
            </a:pPr>
            <a:r>
              <a:rPr sz="1050" b="1">
                <a:solidFill>
                  <a:srgbClr val="00F2FE"/>
                </a:solidFill>
              </a:rPr>
              <a:t>■ THE BUILDERS: TEAM VISION</a:t>
            </a:r>
          </a:p>
        </p:txBody>
      </p:sp>
      <p:sp>
        <p:nvSpPr>
          <p:cNvPr id="9220" name="TextBox 3">
            <a:extLst>
              <a:ext uri="{FF2B5EF4-FFF2-40B4-BE49-F238E27FC236}">
                <a16:creationId xmlns:a16="http://schemas.microsoft.com/office/drawing/2014/main" id="{667ED804-272F-25E0-E64B-335A2C503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712788"/>
            <a:ext cx="10790238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300"/>
              </a:spcAft>
            </a:pPr>
            <a:r>
              <a:rPr lang="en-US" altLang="en-US" sz="2800" b="1">
                <a:solidFill>
                  <a:srgbClr val="FFFFFF"/>
                </a:solidFill>
              </a:rPr>
              <a:t>Team Vision: Engineering Next-Gen Grid Intelligence</a:t>
            </a:r>
          </a:p>
          <a:p>
            <a:pPr eaLnBrk="1" hangingPunct="1"/>
            <a:r>
              <a:rPr lang="en-US" altLang="en-US" sz="1400">
                <a:solidFill>
                  <a:srgbClr val="94A3B8"/>
                </a:solidFill>
              </a:rPr>
              <a:t>Cross-disciplinary power systems, machine learning, and enterprise software engineering.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034E7B-F48C-B20F-0EA7-90C29F16AAC4}"/>
              </a:ext>
            </a:extLst>
          </p:cNvPr>
          <p:cNvSpPr/>
          <p:nvPr/>
        </p:nvSpPr>
        <p:spPr>
          <a:xfrm>
            <a:off x="731838" y="1920875"/>
            <a:ext cx="2514600" cy="365760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00F2FE"/>
                </a:solidFill>
                <a:latin typeface="Calibri"/>
              </a:defRPr>
            </a:pPr>
            <a:r>
              <a:rPr lang="en-US" sz="1000" b="1" dirty="0">
                <a:solidFill>
                  <a:srgbClr val="00F2FE"/>
                </a:solidFill>
              </a:rPr>
              <a:t>KRISHNA PARMAR(LEADER)</a:t>
            </a:r>
            <a:endParaRPr sz="1000" b="1" dirty="0">
              <a:solidFill>
                <a:srgbClr val="00F2FE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 dirty="0">
                <a:solidFill>
                  <a:srgbClr val="FFFFFF"/>
                </a:solidFill>
              </a:rPr>
              <a:t>Lead A</a:t>
            </a:r>
            <a:r>
              <a:rPr lang="en-US" sz="1400" b="1" dirty="0">
                <a:solidFill>
                  <a:srgbClr val="FFFFFF"/>
                </a:solidFill>
              </a:rPr>
              <a:t>I</a:t>
            </a:r>
            <a:endParaRPr sz="1400" b="1" dirty="0">
              <a:solidFill>
                <a:srgbClr val="FFFFFF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00F2FE"/>
                </a:solidFill>
                <a:latin typeface="Calibri"/>
              </a:defRPr>
            </a:pPr>
            <a:r>
              <a:rPr sz="1100" b="1" dirty="0">
                <a:solidFill>
                  <a:srgbClr val="00F2FE"/>
                </a:solidFill>
              </a:rPr>
              <a:t>Generative AI &amp; Foundation Models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 dirty="0">
                <a:solidFill>
                  <a:srgbClr val="CBD5E1"/>
                </a:solidFill>
              </a:rPr>
              <a:t>• Integrated IBM watsonx.ai Granite LLM</a:t>
            </a:r>
            <a:br>
              <a:rPr sz="1150" dirty="0">
                <a:solidFill>
                  <a:srgbClr val="CBD5E1"/>
                </a:solidFill>
              </a:rPr>
            </a:br>
            <a:r>
              <a:rPr sz="1150" dirty="0">
                <a:solidFill>
                  <a:srgbClr val="CBD5E1"/>
                </a:solidFill>
              </a:rPr>
              <a:t>• Built automated operator brief synthesizer</a:t>
            </a:r>
            <a:br>
              <a:rPr sz="1150" dirty="0">
                <a:solidFill>
                  <a:srgbClr val="CBD5E1"/>
                </a:solidFill>
              </a:rPr>
            </a:br>
            <a:r>
              <a:rPr sz="1150" dirty="0">
                <a:solidFill>
                  <a:srgbClr val="CBD5E1"/>
                </a:solidFill>
              </a:rPr>
              <a:t>• Designed chain-of-thought root cause prompt pipelines</a:t>
            </a:r>
            <a:br>
              <a:rPr sz="1150" dirty="0">
                <a:solidFill>
                  <a:srgbClr val="CBD5E1"/>
                </a:solidFill>
              </a:rPr>
            </a:br>
            <a:r>
              <a:rPr sz="1150" dirty="0">
                <a:solidFill>
                  <a:srgbClr val="CBD5E1"/>
                </a:solidFill>
              </a:rPr>
              <a:t>• Enforced deterministic guardrails for utility safety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E5CFB84-6A78-649D-6F51-FC2183674FF3}"/>
              </a:ext>
            </a:extLst>
          </p:cNvPr>
          <p:cNvSpPr/>
          <p:nvPr/>
        </p:nvSpPr>
        <p:spPr>
          <a:xfrm>
            <a:off x="3475038" y="1920875"/>
            <a:ext cx="2514600" cy="365760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rPr lang="en-US" sz="1000" b="1" dirty="0">
                <a:solidFill>
                  <a:srgbClr val="10B981"/>
                </a:solidFill>
              </a:rPr>
              <a:t>JAMINGIRI</a:t>
            </a:r>
            <a:endParaRPr sz="1000" b="1" dirty="0">
              <a:solidFill>
                <a:srgbClr val="10B981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 dirty="0">
                <a:solidFill>
                  <a:srgbClr val="FFFFFF"/>
                </a:solidFill>
              </a:rPr>
              <a:t>Power Systems Domain Specialist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rPr sz="1100" b="1" dirty="0">
                <a:solidFill>
                  <a:srgbClr val="10B981"/>
                </a:solidFill>
              </a:rPr>
              <a:t>Grid Physics &amp; Dispatch Compliance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 dirty="0">
                <a:solidFill>
                  <a:srgbClr val="CBD5E1"/>
                </a:solidFill>
              </a:rPr>
              <a:t>• Formulated expected solar/wind generation physics</a:t>
            </a:r>
            <a:br>
              <a:rPr sz="1150" dirty="0">
                <a:solidFill>
                  <a:srgbClr val="CBD5E1"/>
                </a:solidFill>
              </a:rPr>
            </a:br>
            <a:r>
              <a:rPr sz="1150" dirty="0">
                <a:solidFill>
                  <a:srgbClr val="CBD5E1"/>
                </a:solidFill>
              </a:rPr>
              <a:t>• Built multi-factor grid risk matrix (0–100 score)</a:t>
            </a:r>
            <a:br>
              <a:rPr sz="1150" dirty="0">
                <a:solidFill>
                  <a:srgbClr val="CBD5E1"/>
                </a:solidFill>
              </a:rPr>
            </a:br>
            <a:r>
              <a:rPr sz="1150" dirty="0">
                <a:solidFill>
                  <a:srgbClr val="CBD5E1"/>
                </a:solidFill>
              </a:rPr>
              <a:t>• Authored 4-point curtailment minimization logic</a:t>
            </a:r>
            <a:br>
              <a:rPr sz="1150" dirty="0">
                <a:solidFill>
                  <a:srgbClr val="CBD5E1"/>
                </a:solidFill>
              </a:rPr>
            </a:br>
            <a:r>
              <a:rPr sz="1150" dirty="0">
                <a:solidFill>
                  <a:srgbClr val="CBD5E1"/>
                </a:solidFill>
              </a:rPr>
              <a:t>• Ensured compliance with NERC/FERC standards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5C0B14D-F3AC-5CA8-4EC6-2D3A549B1C52}"/>
              </a:ext>
            </a:extLst>
          </p:cNvPr>
          <p:cNvSpPr/>
          <p:nvPr/>
        </p:nvSpPr>
        <p:spPr>
          <a:xfrm>
            <a:off x="6218238" y="1920875"/>
            <a:ext cx="2514600" cy="365760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38BDF8"/>
                </a:solidFill>
                <a:latin typeface="Calibri"/>
              </a:defRPr>
            </a:pPr>
            <a:r>
              <a:rPr lang="en-US" sz="1000" b="1" dirty="0">
                <a:solidFill>
                  <a:srgbClr val="38BDF8"/>
                </a:solidFill>
              </a:rPr>
              <a:t>DARPIT</a:t>
            </a:r>
            <a:endParaRPr sz="1000" b="1" dirty="0">
              <a:solidFill>
                <a:srgbClr val="38BDF8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 dirty="0">
                <a:solidFill>
                  <a:srgbClr val="FFFFFF"/>
                </a:solidFill>
              </a:rPr>
              <a:t>Full-Stack &amp; UI/UX Developer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rPr sz="1100" b="1" dirty="0">
                <a:solidFill>
                  <a:srgbClr val="38BDF8"/>
                </a:solidFill>
              </a:rPr>
              <a:t>Operations Console &amp; Visualizations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 dirty="0">
                <a:solidFill>
                  <a:srgbClr val="CBD5E1"/>
                </a:solidFill>
              </a:rPr>
              <a:t>• Built 10-page </a:t>
            </a:r>
            <a:r>
              <a:rPr sz="1150" dirty="0" err="1">
                <a:solidFill>
                  <a:srgbClr val="CBD5E1"/>
                </a:solidFill>
              </a:rPr>
              <a:t>Streamlit</a:t>
            </a:r>
            <a:r>
              <a:rPr sz="1150" dirty="0">
                <a:solidFill>
                  <a:srgbClr val="CBD5E1"/>
                </a:solidFill>
              </a:rPr>
              <a:t> energy control center</a:t>
            </a:r>
            <a:br>
              <a:rPr sz="1150" dirty="0">
                <a:solidFill>
                  <a:srgbClr val="CBD5E1"/>
                </a:solidFill>
              </a:rPr>
            </a:br>
            <a:r>
              <a:rPr sz="1150" dirty="0">
                <a:solidFill>
                  <a:srgbClr val="CBD5E1"/>
                </a:solidFill>
              </a:rPr>
              <a:t>• Designed responsive KPI cards and risk alert banners</a:t>
            </a:r>
            <a:br>
              <a:rPr sz="1150" dirty="0">
                <a:solidFill>
                  <a:srgbClr val="CBD5E1"/>
                </a:solidFill>
              </a:rPr>
            </a:br>
            <a:r>
              <a:rPr sz="1150" dirty="0">
                <a:solidFill>
                  <a:srgbClr val="CBD5E1"/>
                </a:solidFill>
              </a:rPr>
              <a:t>• Implemented interactive </a:t>
            </a:r>
            <a:r>
              <a:rPr sz="1150" dirty="0" err="1">
                <a:solidFill>
                  <a:srgbClr val="CBD5E1"/>
                </a:solidFill>
              </a:rPr>
              <a:t>Plotly</a:t>
            </a:r>
            <a:r>
              <a:rPr sz="1150" dirty="0">
                <a:solidFill>
                  <a:srgbClr val="CBD5E1"/>
                </a:solidFill>
              </a:rPr>
              <a:t> telemetry charts</a:t>
            </a:r>
            <a:br>
              <a:rPr sz="1150" dirty="0">
                <a:solidFill>
                  <a:srgbClr val="CBD5E1"/>
                </a:solidFill>
              </a:rPr>
            </a:br>
            <a:r>
              <a:rPr sz="1150" dirty="0">
                <a:solidFill>
                  <a:srgbClr val="CBD5E1"/>
                </a:solidFill>
              </a:rPr>
              <a:t>• Engineered 1-click Operator Brief trigger workflow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6647D47-766E-F402-7A0A-3D8AD004F7D3}"/>
              </a:ext>
            </a:extLst>
          </p:cNvPr>
          <p:cNvSpPr/>
          <p:nvPr/>
        </p:nvSpPr>
        <p:spPr>
          <a:xfrm>
            <a:off x="8961438" y="1920875"/>
            <a:ext cx="2514600" cy="3657600"/>
          </a:xfrm>
          <a:prstGeom prst="roundRect">
            <a:avLst/>
          </a:prstGeom>
          <a:solidFill>
            <a:srgbClr val="0E19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anchor="ctr"/>
          <a:lstStyle/>
          <a:p>
            <a:pPr algn="ctr" eaLnBrk="1" fontAlgn="auto" hangingPunct="1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rPr lang="en-IN" sz="1000" b="1" dirty="0">
                <a:solidFill>
                  <a:srgbClr val="F59E0B"/>
                </a:solidFill>
              </a:rPr>
              <a:t>Priyansh</a:t>
            </a:r>
            <a:endParaRPr sz="1000" b="1" dirty="0">
              <a:solidFill>
                <a:srgbClr val="F59E0B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 dirty="0">
                <a:solidFill>
                  <a:srgbClr val="FFFFFF"/>
                </a:solidFill>
              </a:rPr>
              <a:t>Data Pipeline </a:t>
            </a:r>
          </a:p>
          <a:p>
            <a:pPr eaLnBrk="1" fontAlgn="auto" hangingPunct="1"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rPr sz="1100" b="1" dirty="0">
                <a:solidFill>
                  <a:srgbClr val="F59E0B"/>
                </a:solidFill>
              </a:rPr>
              <a:t>SCADA Ingestion &amp; Watson ML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150">
                <a:solidFill>
                  <a:srgbClr val="CBD5E1"/>
                </a:solidFill>
                <a:latin typeface="Calibri"/>
              </a:defRPr>
            </a:pPr>
            <a:r>
              <a:rPr sz="1150" dirty="0">
                <a:solidFill>
                  <a:srgbClr val="CBD5E1"/>
                </a:solidFill>
              </a:rPr>
              <a:t>• Architected </a:t>
            </a:r>
            <a:r>
              <a:rPr sz="1150" dirty="0" err="1">
                <a:solidFill>
                  <a:srgbClr val="CBD5E1"/>
                </a:solidFill>
              </a:rPr>
              <a:t>watsonx.data</a:t>
            </a:r>
            <a:r>
              <a:rPr sz="1150" dirty="0">
                <a:solidFill>
                  <a:srgbClr val="CBD5E1"/>
                </a:solidFill>
              </a:rPr>
              <a:t> </a:t>
            </a:r>
            <a:r>
              <a:rPr sz="1150" dirty="0" err="1">
                <a:solidFill>
                  <a:srgbClr val="CBD5E1"/>
                </a:solidFill>
              </a:rPr>
              <a:t>lakehouse</a:t>
            </a:r>
            <a:r>
              <a:rPr sz="1150" dirty="0">
                <a:solidFill>
                  <a:srgbClr val="CBD5E1"/>
                </a:solidFill>
              </a:rPr>
              <a:t> integration</a:t>
            </a:r>
            <a:br>
              <a:rPr sz="1150" dirty="0">
                <a:solidFill>
                  <a:srgbClr val="CBD5E1"/>
                </a:solidFill>
              </a:rPr>
            </a:br>
            <a:r>
              <a:rPr sz="1150" dirty="0">
                <a:solidFill>
                  <a:srgbClr val="CBD5E1"/>
                </a:solidFill>
              </a:rPr>
              <a:t>• Deployed Watson ML rolling demand forecast models</a:t>
            </a:r>
            <a:br>
              <a:rPr sz="1150" dirty="0">
                <a:solidFill>
                  <a:srgbClr val="CBD5E1"/>
                </a:solidFill>
              </a:rPr>
            </a:br>
            <a:r>
              <a:rPr sz="1150" dirty="0">
                <a:solidFill>
                  <a:srgbClr val="CBD5E1"/>
                </a:solidFill>
              </a:rPr>
              <a:t>• Built synthetic 8-interval telemetry generator</a:t>
            </a:r>
            <a:br>
              <a:rPr sz="1150" dirty="0">
                <a:solidFill>
                  <a:srgbClr val="CBD5E1"/>
                </a:solidFill>
              </a:rPr>
            </a:br>
            <a:r>
              <a:rPr sz="1150" dirty="0">
                <a:solidFill>
                  <a:srgbClr val="CBD5E1"/>
                </a:solidFill>
              </a:rPr>
              <a:t>• Automated anomaly detection filters (&gt;50MW gap)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C46F8B1-26B5-5D85-B61B-8DC4317E03BB}"/>
              </a:ext>
            </a:extLst>
          </p:cNvPr>
          <p:cNvSpPr/>
          <p:nvPr/>
        </p:nvSpPr>
        <p:spPr>
          <a:xfrm>
            <a:off x="731838" y="5761038"/>
            <a:ext cx="10728325" cy="685800"/>
          </a:xfrm>
          <a:prstGeom prst="roundRect">
            <a:avLst/>
          </a:prstGeom>
          <a:solidFill>
            <a:srgbClr val="14244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4D399"/>
                </a:solidFill>
                <a:latin typeface="Calibri"/>
              </a:defRPr>
            </a:pPr>
            <a:r>
              <a:rPr sz="1250" b="1">
                <a:solidFill>
                  <a:srgbClr val="34D399"/>
                </a:solidFill>
              </a:rPr>
              <a:t>🚀 NEXT STEPS: 4-WEEK UTILITY PILOT | W1-2: Live Grid Shadow Mode • W3: Connect SCADA/EMS • W4: Validate Curtailment Recovery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1761</Words>
  <Application>Microsoft Office PowerPoint</Application>
  <PresentationFormat>Widescreen</PresentationFormat>
  <Paragraphs>141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Krishna</dc:creator>
  <cp:keywords/>
  <dc:description>generated using python-pptx</dc:description>
  <cp:lastModifiedBy>Krishna Parmar</cp:lastModifiedBy>
  <cp:revision>2</cp:revision>
  <dcterms:created xsi:type="dcterms:W3CDTF">2013-01-27T09:14:16Z</dcterms:created>
  <dcterms:modified xsi:type="dcterms:W3CDTF">2026-09-15T17:03:46Z</dcterms:modified>
  <cp:category/>
</cp:coreProperties>
</file>